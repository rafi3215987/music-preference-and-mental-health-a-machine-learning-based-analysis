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3" r:id="rId4"/>
  </p:sldMasterIdLst>
  <p:notesMasterIdLst>
    <p:notesMasterId r:id="rId34"/>
  </p:notesMasterIdLst>
  <p:handoutMasterIdLst>
    <p:handoutMasterId r:id="rId35"/>
  </p:handoutMasterIdLst>
  <p:sldIdLst>
    <p:sldId id="325" r:id="rId5"/>
    <p:sldId id="307" r:id="rId6"/>
    <p:sldId id="338" r:id="rId7"/>
    <p:sldId id="312" r:id="rId8"/>
    <p:sldId id="317" r:id="rId9"/>
    <p:sldId id="343" r:id="rId10"/>
    <p:sldId id="359" r:id="rId11"/>
    <p:sldId id="336" r:id="rId12"/>
    <p:sldId id="358" r:id="rId13"/>
    <p:sldId id="344" r:id="rId14"/>
    <p:sldId id="353" r:id="rId15"/>
    <p:sldId id="354" r:id="rId16"/>
    <p:sldId id="334" r:id="rId17"/>
    <p:sldId id="347" r:id="rId18"/>
    <p:sldId id="361" r:id="rId19"/>
    <p:sldId id="360" r:id="rId20"/>
    <p:sldId id="348" r:id="rId21"/>
    <p:sldId id="362" r:id="rId22"/>
    <p:sldId id="363" r:id="rId23"/>
    <p:sldId id="356" r:id="rId24"/>
    <p:sldId id="357" r:id="rId25"/>
    <p:sldId id="364" r:id="rId26"/>
    <p:sldId id="365" r:id="rId27"/>
    <p:sldId id="366" r:id="rId28"/>
    <p:sldId id="367" r:id="rId29"/>
    <p:sldId id="368" r:id="rId30"/>
    <p:sldId id="369" r:id="rId31"/>
    <p:sldId id="370" r:id="rId32"/>
    <p:sldId id="37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FB1BBBF-98FF-48EE-9BEC-280A8E1CE4D6}">
          <p14:sldIdLst>
            <p14:sldId id="325"/>
            <p14:sldId id="307"/>
            <p14:sldId id="338"/>
            <p14:sldId id="312"/>
            <p14:sldId id="317"/>
            <p14:sldId id="343"/>
            <p14:sldId id="359"/>
            <p14:sldId id="336"/>
            <p14:sldId id="358"/>
            <p14:sldId id="344"/>
            <p14:sldId id="353"/>
            <p14:sldId id="354"/>
            <p14:sldId id="334"/>
            <p14:sldId id="347"/>
            <p14:sldId id="361"/>
            <p14:sldId id="360"/>
            <p14:sldId id="348"/>
            <p14:sldId id="362"/>
            <p14:sldId id="363"/>
            <p14:sldId id="356"/>
            <p14:sldId id="357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94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06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4B9809-3C73-CA2B-1791-620EA168CC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7B1C58-A1FD-D1E1-33AB-1303C48435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AA30A-158D-435B-B1F3-6FF82BD60FDF}" type="datetimeFigureOut">
              <a:rPr lang="en-US" smtClean="0"/>
              <a:t>7/15/2025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7A0D9-659F-DDC6-CBD8-29B61E0FF7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Leveraging Genre-Based Music Preferences to Assist Psychologists in Tailoring Mental Health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E0617-6128-05F5-8F48-6A0A1D1479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A24AC-02A6-46A1-A072-EAC8AC25DC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91982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A0313-F537-4ED0-973B-4729E10A826A}" type="datetimeFigureOut">
              <a:rPr lang="en-US" smtClean="0"/>
              <a:t>7/15/2025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Leveraging Genre-Based Music Preferences to Assist Psychologists in Tailoring Mental Health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92804-03A6-47F6-A893-4DDB8903A8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17359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06361-CC5B-256D-0C43-88C94CFDE7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Leveraging Genre-Based Music Preferences to Assist Psychologists in Tailoring Mental Health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CDECA-DAB4-8AA6-A8E1-53E93F7838A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Leveraging Genre-Based Music Preferences to Assist Psychologists in Tailoring Mental Health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182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16D24-6D6E-D63A-F1C2-40A59242D30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Leveraging Genre-Based Music Preferences to Assist Psychologists in Tailoring Mental Health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839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C211C-8C2C-3003-48C0-EF09FD0A6E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Leveraging Genre-Based Music Preferences to Assist Psychologists in Tailoring Mental Health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977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D5296-9177-6CCC-AE8D-AA38A8E1903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Leveraging Genre-Based Music Preferences to Assist Psychologists in Tailoring Mental Health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206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CB899-6920-DD94-480B-451AEA935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35385-4E36-8E92-794E-661D1A793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43287-5D07-DEB8-B65B-9C447D963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AA729-503A-1712-F27E-2920A27BED6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Leveraging Genre-Based Music Preferences to Assist Psychologists in Tailoring Mental Health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703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7F658-DCBB-6013-3A31-89F26C8B6D0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Leveraging Genre-Based Music Preferences to Assist Psychologists in Tailoring Mental Health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72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FBE1D-403A-E132-25A1-F88695F726A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Leveraging Genre-Based Music Preferences to Assist Psychologists in Tailoring Mental Health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623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0472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472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6538D75-00C2-DE73-4C65-FE94AC65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B601B81-68C1-B63A-105C-EC637DF5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Leveraging Genre-Based Music Preferences to Assist Psychologists in Tailoring Mental Health 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9F3E495-0415-392A-9A07-34555BBC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427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825625"/>
            <a:ext cx="10515600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Leveraging Genre-Based Music Preferences to Assist Psychologists in Tailoring Mental Health 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127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B034DD9-4A61-318F-88CF-79721B55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496DA99-E916-9F7C-9E88-AA06046A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Leveraging Genre-Based Music Preferences to Assist Psychologists in Tailoring Mental Health 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CC86B5-B6B3-4633-0D90-AACB44D0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24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8F7F10-35F6-E392-D41B-3CD300D5CCF8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181600" cy="42063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>
              <a:buChar char="¬"/>
            </a:pPr>
            <a:r>
              <a:rPr lang="en-US"/>
              <a:t>Click to edit Master text styles</a:t>
            </a:r>
          </a:p>
          <a:p>
            <a:pPr lvl="1">
              <a:buChar char="¬"/>
            </a:pPr>
            <a:r>
              <a:rPr lang="en-US"/>
              <a:t>Second level</a:t>
            </a:r>
          </a:p>
          <a:p>
            <a:pPr lvl="2">
              <a:buChar char="¬"/>
            </a:pPr>
            <a:r>
              <a:rPr lang="en-US"/>
              <a:t>Third level</a:t>
            </a:r>
          </a:p>
          <a:p>
            <a:pPr lvl="3">
              <a:buChar char="¬"/>
            </a:pPr>
            <a:r>
              <a:rPr lang="en-US"/>
              <a:t>Fourth level</a:t>
            </a:r>
          </a:p>
          <a:p>
            <a:pPr lvl="4">
              <a:buChar char="¬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6178" y="1825625"/>
            <a:ext cx="518004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274CEC-210E-BC97-9B79-A7D801E4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6B3D53-F805-C08E-2359-498218FC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Leveraging Genre-Based Music Preferences to Assist Psychologists in Tailoring Mental Health 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1C4695B-D7BD-45F7-EB23-6FDAF241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612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A1F52B7-5271-53AA-8260-0CF50FF8DA3C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365125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1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178" y="2505075"/>
            <a:ext cx="515778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5459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4590" y="2505075"/>
            <a:ext cx="5183188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Leveraging Genre-Based Music Preferences to Assist Psychologists in Tailoring Mental Health 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465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9328E63-E075-39E2-BAA7-30CCAE2E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894A5-0E01-F43E-C68A-2EFAB2EB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Leveraging Genre-Based Music Preferences to Assist Psychologists in Tailoring Mental Health 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250128C-CE40-2B40-1B89-7E9AAAAC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502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281B99-C6A0-F92A-BDD3-BB362196501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8367C-67E1-A50A-1584-F859A6FED9C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B8861-51D7-741E-6B2C-25412D40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69A2F-0657-B33B-8334-C458A953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Leveraging Genre-Based Music Preferences to Assist Psychologists in Tailoring Mental Health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4FC84-48ED-0480-2497-FCD84C12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314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12425" cy="1600200"/>
          </a:xfrm>
        </p:spPr>
        <p:txBody>
          <a:bodyPr anchor="b">
            <a:normAutofit/>
          </a:bodyPr>
          <a:lstStyle>
            <a:lvl1pPr>
              <a:defRPr sz="5200">
                <a:latin typeface="Dante (Headings)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830" y="2199340"/>
            <a:ext cx="6172200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F37370-7C05-0AAE-A0C3-9EE620A8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00B8E3-39E6-A88A-BBFB-717596EB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Leveraging Genre-Based Music Preferences to Assist Psychologists in Tailoring Mental Health 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8E340D-1840-D987-3EEA-963BDDE3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50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3932237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1276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F28E44-58BB-553B-BBD0-F292C66C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F22D156-E5FE-F118-0553-B401F196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Leveraging Genre-Based Music Preferences to Assist Psychologists in Tailoring Mental Health 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AEE0A6-6120-9BA2-5751-E0E2D8CF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9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68C47-2910-B99C-EC67-F6649ADC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19515-4A04-FBE0-E89C-86ECBB7E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Leveraging Genre-Based Music Preferences to Assist Psychologists in Tailoring Mental Health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9C272-2490-C827-9BE5-9CEE4185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054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2613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43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F68BE-C313-C839-B719-0339AC34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F4E5F-FFF4-F934-3DD9-134F8D24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Leveraging Genre-Based Music Preferences to Assist Psychologists in Tailoring Mental Health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E0F82-88EB-FAE2-FC02-99D5EE30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207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F7D84AA-0BCE-9C85-4510-34EBAE061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524" y="708955"/>
            <a:ext cx="12193526" cy="5463893"/>
            <a:chOff x="-1524" y="708955"/>
            <a:chExt cx="12193526" cy="546389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41002A6-9DB7-26A1-2425-8C496B953CA4}"/>
                </a:ext>
              </a:extLst>
            </p:cNvPr>
            <p:cNvSpPr/>
            <p:nvPr userDrawn="1"/>
          </p:nvSpPr>
          <p:spPr>
            <a:xfrm>
              <a:off x="-1524" y="709613"/>
              <a:ext cx="12192000" cy="5463235"/>
            </a:xfrm>
            <a:prstGeom prst="rect">
              <a:avLst/>
            </a:prstGeom>
            <a:solidFill>
              <a:schemeClr val="accent3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9F029623-B14D-1CDC-9D8F-47D563937B5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43670" t="-7182" r="-9886" b="52046"/>
            <a:stretch/>
          </p:blipFill>
          <p:spPr>
            <a:xfrm>
              <a:off x="-1" y="1162050"/>
              <a:ext cx="5568949" cy="5009032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B4D8031F-ED2A-8D7E-D369-6BF3256FE3F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256" t="-7183" r="44925" b="48899"/>
            <a:stretch/>
          </p:blipFill>
          <p:spPr>
            <a:xfrm rot="16200000">
              <a:off x="7239292" y="366674"/>
              <a:ext cx="4610430" cy="5294991"/>
            </a:xfrm>
            <a:prstGeom prst="rect">
              <a:avLst/>
            </a:prstGeom>
          </p:spPr>
        </p:pic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28D3FB-54EA-410D-A062-8F118E5D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93477A-1279-4BCC-8257-14CC2361F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7F04C86-E215-DFBB-8302-70BCCDFC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708956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29577F-647F-5850-5636-6ED05B995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9482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CBFB4F-DC16-FC59-E9E7-B92910449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6429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690604-E7DB-AFA3-7E13-CAFF46FF5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7968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E2874C2-BA39-4778-DC11-487CC4FCA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6D6334D-FB4A-4843-F2FB-1CAC50021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8695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FC043C06-5053-E291-E708-44B684DC5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932" y="1115167"/>
            <a:ext cx="8534136" cy="4655385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68248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F9E0CFE-F27B-4D50-AA2F-7146CA90E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" y="2138289"/>
            <a:ext cx="12188952" cy="4033912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C488A36-B0CB-7B46-C2A6-BA57D39EC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7860" r="37853" b="27738"/>
          <a:stretch/>
        </p:blipFill>
        <p:spPr>
          <a:xfrm>
            <a:off x="6962087" y="2143124"/>
            <a:ext cx="5226865" cy="403383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A8614BA2-9387-F1B5-B7DB-B34DAE90FE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7" y="365125"/>
            <a:ext cx="10778937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994EC89-4FAE-445C-A6E8-D55E4A34DE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2899" y="2350108"/>
            <a:ext cx="10778221" cy="3609461"/>
          </a:xfrm>
        </p:spPr>
        <p:txBody>
          <a:bodyPr anchor="ctr" anchorCtr="0">
            <a:normAutofit/>
          </a:bodyPr>
          <a:lstStyle>
            <a:lvl1pPr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ECF93F-3E86-4C44-BAF1-ADE160CAD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A80DA6A-71F3-6286-F60A-EEEC91887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F98B46-5DFC-3487-EB05-148905CA6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138288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768F8E-3DFF-8D92-E3CF-5AE5F6DA5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045761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83A1EA-5EE3-D81A-D135-860F481F6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64727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EA58FF-2FB1-3B78-FDCF-E5DC2EFE5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326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2EA47A-F66B-4005-A5A4-458E90C096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3"/>
            <a:ext cx="5646541" cy="3304494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pPr algn="l">
              <a:lnSpc>
                <a:spcPts val="5800"/>
              </a:lnSpc>
            </a:pPr>
            <a:r>
              <a:rPr lang="en-US" sz="4800" dirty="0"/>
              <a:t>Click to add title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415B1A-CA14-E219-0C7F-0B38B1684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83096" y="1"/>
            <a:ext cx="5013088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BA35BB-6689-91C0-7D75-944092B3C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1949B5-8206-3159-8E9E-E95F2A9AA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483096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97BFBC-DA17-6BEB-A937-333E9504D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363569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F9A5C70-EFC4-1BAB-285F-B317FAF474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275" y="4148138"/>
            <a:ext cx="5673726" cy="15287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073F905-5A3E-F9EB-B095-7A3A17C1E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249" t="13424" r="28018" b="11087"/>
          <a:stretch/>
        </p:blipFill>
        <p:spPr>
          <a:xfrm>
            <a:off x="6472427" y="0"/>
            <a:ext cx="50237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01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77B93E-437F-D9D6-D3D1-6DE5F025A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44200" y="1"/>
            <a:ext cx="75198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74AAE1C-171A-32A3-E6FD-75252CAB8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796" t="12194" r="49125" b="12256"/>
          <a:stretch/>
        </p:blipFill>
        <p:spPr>
          <a:xfrm>
            <a:off x="10732660" y="-5609"/>
            <a:ext cx="763524" cy="686360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581E4B7-6D97-63BF-7E87-5E71F8BD8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8" y="365125"/>
            <a:ext cx="9733538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630934-DBD2-4535-961F-B198ABA2D05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6" y="2198915"/>
            <a:ext cx="9741183" cy="3345316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 baseline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20D2A6-7700-487F-AC7E-A5A2C30DC1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C30D6A-6415-42E1-89E9-EF806C3FE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05DBF26-BAB3-D5FD-5EA7-310263D4C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940584B-2A03-52F7-B667-9CD1A2BD7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3C0872-DC48-53B1-8569-7A913D92D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074420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35D700-0F05-E0E7-FB42-2FC890C26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063077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5C00B3F-62BE-8535-5239-46279DF1B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052457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541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6FBD3-8FFB-2E51-CAC4-CFB7B5AF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491640" y="0"/>
            <a:ext cx="708823" cy="713232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8" y="365125"/>
            <a:ext cx="10660350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2178" y="2198914"/>
            <a:ext cx="5157787" cy="3455925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143000">
              <a:spcBef>
                <a:spcPts val="1000"/>
              </a:spcBef>
              <a:defRPr sz="1800"/>
            </a:lvl4pPr>
            <a:lvl5pPr marL="160020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Leveraging Genre-Based Music Preferences to Assist Psychologists in Tailoring Mental Health 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0"/>
            <a:ext cx="685800" cy="685800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620B83B-1673-865A-1958-873C4765EFA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924741" y="2198913"/>
            <a:ext cx="5157787" cy="3455925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143000">
              <a:spcBef>
                <a:spcPts val="1000"/>
              </a:spcBef>
              <a:defRPr sz="1800"/>
            </a:lvl4pPr>
            <a:lvl5pPr marL="160020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8902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2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54936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sz="4400" dirty="0"/>
              <a:t>Click to add title 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105342" y="2198914"/>
            <a:ext cx="3970218" cy="344598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845EA08-ECD8-E8B5-40BF-E899F315098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0C4E27-95CA-78A5-BD7A-6109D75C8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8AE4F7BC-B724-2456-4104-1C5E254EEF3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22178" y="2198914"/>
            <a:ext cx="6487908" cy="3455925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143000">
              <a:spcBef>
                <a:spcPts val="1000"/>
              </a:spcBef>
              <a:defRPr sz="1800"/>
            </a:lvl4pPr>
            <a:lvl5pPr marL="160020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32285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408E76-0AE4-495F-87FB-5DD280A91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491640" y="5610"/>
            <a:ext cx="708823" cy="713232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130D9-40F7-D817-3F42-72C9D58579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43" y="667582"/>
            <a:ext cx="5102717" cy="2482018"/>
          </a:xfrm>
        </p:spPr>
        <p:txBody>
          <a:bodyPr anchor="t" anchorCtr="0">
            <a:noAutofit/>
          </a:bodyPr>
          <a:lstStyle>
            <a:lvl1pPr>
              <a:defRPr sz="4400"/>
            </a:lvl1pPr>
          </a:lstStyle>
          <a:p>
            <a:r>
              <a:rPr lang="en-US" sz="4400" dirty="0"/>
              <a:t>Click to add title 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88A7439-0E5E-18D2-A4C7-D377032ED25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668964" y="667582"/>
            <a:ext cx="5827220" cy="2482018"/>
          </a:xfrm>
        </p:spPr>
        <p:txBody>
          <a:bodyPr tIns="91440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2"/>
                </a:solidFill>
              </a:defRPr>
            </a:lvl2pPr>
            <a:lvl3pPr marL="914400" indent="0">
              <a:buNone/>
              <a:defRPr sz="1800">
                <a:solidFill>
                  <a:schemeClr val="tx2"/>
                </a:solidFill>
              </a:defRPr>
            </a:lvl3pPr>
            <a:lvl4pPr marL="1371600" indent="0">
              <a:buNone/>
              <a:defRPr sz="1800">
                <a:solidFill>
                  <a:schemeClr val="tx2"/>
                </a:solidFill>
              </a:defRPr>
            </a:lvl4pPr>
            <a:lvl5pPr marL="1828800" indent="0"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3471630-9EC8-4C68-B4D8-D98C242DBE0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3843" y="3362959"/>
            <a:ext cx="11102339" cy="2827459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FB3B490-399A-EF1F-9626-CCCE0F5FF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16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B53B4F-080C-8523-03AD-871CC3B8D168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 descr="Tag=AccentColor&#10;Flavor=Light&#10;Target=Line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 descr="Tag=AccentColor&#10;Flavor=Light&#10;Target=Line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Leveraging Genre-Based Music Preferences to Assist Psychologists in Tailoring Mental Health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28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5" r:id="rId12"/>
    <p:sldLayoutId id="2147483896" r:id="rId13"/>
    <p:sldLayoutId id="2147483898" r:id="rId14"/>
    <p:sldLayoutId id="2147483899" r:id="rId15"/>
    <p:sldLayoutId id="2147483901" r:id="rId16"/>
    <p:sldLayoutId id="2147483902" r:id="rId17"/>
    <p:sldLayoutId id="2147483903" r:id="rId1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catherinerasgaitis/mxmhsurvey-result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2107B0-826E-4E2E-390A-A0CBF1F86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919" y="1115168"/>
            <a:ext cx="8534136" cy="2129478"/>
          </a:xfrm>
        </p:spPr>
        <p:txBody>
          <a:bodyPr/>
          <a:lstStyle/>
          <a:p>
            <a:r>
              <a:rPr lang="en-US" sz="3200" dirty="0"/>
              <a:t>Leveraging Genre-Based Music Preferences to Assist Psychologists in Tailoring Mental Health </a:t>
            </a:r>
            <a:br>
              <a:rPr lang="en-US" sz="3200" dirty="0"/>
            </a:br>
            <a:r>
              <a:rPr lang="en-US" sz="3200" dirty="0"/>
              <a:t>Treatments : A Machine Learning Approach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2E3F7C-4BE1-3405-D069-1CA12FA17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605235"/>
              </p:ext>
            </p:extLst>
          </p:nvPr>
        </p:nvGraphicFramePr>
        <p:xfrm>
          <a:off x="2235068" y="3731152"/>
          <a:ext cx="8128000" cy="201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54167">
                  <a:extLst>
                    <a:ext uri="{9D8B030D-6E8A-4147-A177-3AD203B41FA5}">
                      <a16:colId xmlns:a16="http://schemas.microsoft.com/office/drawing/2014/main" val="2956149394"/>
                    </a:ext>
                  </a:extLst>
                </a:gridCol>
                <a:gridCol w="4073833">
                  <a:extLst>
                    <a:ext uri="{9D8B030D-6E8A-4147-A177-3AD203B41FA5}">
                      <a16:colId xmlns:a16="http://schemas.microsoft.com/office/drawing/2014/main" val="2301212499"/>
                    </a:ext>
                  </a:extLst>
                </a:gridCol>
              </a:tblGrid>
              <a:tr h="1807742">
                <a:tc>
                  <a:txBody>
                    <a:bodyPr/>
                    <a:lstStyle/>
                    <a:p>
                      <a:r>
                        <a:rPr lang="en-US" b="1" u="none" dirty="0"/>
                        <a:t>Presented By</a:t>
                      </a:r>
                    </a:p>
                    <a:p>
                      <a:r>
                        <a:rPr lang="en-US" b="0" dirty="0"/>
                        <a:t>Mohammad Mahbubur Rahman</a:t>
                      </a:r>
                    </a:p>
                    <a:p>
                      <a:r>
                        <a:rPr lang="en-US" b="0" dirty="0"/>
                        <a:t>CE20001</a:t>
                      </a:r>
                    </a:p>
                    <a:p>
                      <a:r>
                        <a:rPr lang="en-US" b="0" dirty="0"/>
                        <a:t>Syed Mahir Faisal</a:t>
                      </a:r>
                    </a:p>
                    <a:p>
                      <a:r>
                        <a:rPr lang="en-US" b="0" dirty="0"/>
                        <a:t>CE20005</a:t>
                      </a:r>
                    </a:p>
                    <a:p>
                      <a:r>
                        <a:rPr lang="en-US" b="0" dirty="0"/>
                        <a:t>Department of CSE, MBSTU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Supervised By</a:t>
                      </a:r>
                    </a:p>
                    <a:p>
                      <a:r>
                        <a:rPr lang="en-US" sz="1800" b="0" dirty="0">
                          <a:latin typeface="+mn-lt"/>
                        </a:rPr>
                        <a:t>Dr. Md. </a:t>
                      </a:r>
                      <a:r>
                        <a:rPr lang="en-US" sz="1800" b="0" dirty="0" err="1">
                          <a:latin typeface="+mn-lt"/>
                        </a:rPr>
                        <a:t>Sazzad</a:t>
                      </a:r>
                      <a:r>
                        <a:rPr lang="en-US" sz="1800" b="0" dirty="0">
                          <a:latin typeface="+mn-lt"/>
                        </a:rPr>
                        <a:t> Hossain</a:t>
                      </a:r>
                    </a:p>
                    <a:p>
                      <a:r>
                        <a:rPr lang="en-US" sz="1800" b="0" dirty="0">
                          <a:latin typeface="+mn-lt"/>
                        </a:rPr>
                        <a:t>Professor</a:t>
                      </a:r>
                    </a:p>
                    <a:p>
                      <a:r>
                        <a:rPr lang="en-US" sz="1800" b="0" dirty="0">
                          <a:latin typeface="+mn-lt"/>
                        </a:rPr>
                        <a:t>Department of CSE, MBSTU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269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5810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689D8-CDAC-4215-96CD-8548432CE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0502F-36D4-4E60-B6E9-08628B2C5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Motivation</a:t>
            </a:r>
          </a:p>
          <a:p>
            <a:r>
              <a:rPr lang="en-US" dirty="0"/>
              <a:t>Related Works</a:t>
            </a:r>
          </a:p>
          <a:p>
            <a:r>
              <a:rPr lang="en-US" dirty="0"/>
              <a:t>Research Questions</a:t>
            </a:r>
          </a:p>
          <a:p>
            <a:r>
              <a:rPr lang="en-US" dirty="0"/>
              <a:t>Research Objectives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Result and Discussion</a:t>
            </a:r>
          </a:p>
          <a:p>
            <a:r>
              <a:rPr lang="en-US" dirty="0"/>
              <a:t>Conclusion and Future Works</a:t>
            </a:r>
          </a:p>
          <a:p>
            <a:r>
              <a:rPr lang="en-US" dirty="0"/>
              <a:t>References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E0FD4B5-4088-0CC7-E6CC-DEA779045EB0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BB6868-6625-93F2-77B5-E9EED9867865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1476309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BAD7B4-5997-4A95-A2A9-773DF1F4C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1818" y="1240093"/>
            <a:ext cx="4080387" cy="923925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552F1CF-68AA-447B-B5B0-C65BB72A5D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5148" y="2599404"/>
            <a:ext cx="5673726" cy="31819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Mental health issues are widespread and need more personalized support.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Music impacts individuals’ emotional and psychological state  but music therapy lacks personalization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Digital data can capture listening habits and mental health trends.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This study uses machine learning to predict genre-based psychological effects.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6D4A06-5FEE-F3B6-AF85-EC6A597973A5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4045600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91794-986C-4679-93EA-5F3C3EE6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5403B-F6A5-4855-B204-4A9D1F5B2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Mental health lacks consistent diagnostic standards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Music affects emotions differently across individuals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Daily music habits can reflect emotional well-being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Current music therapy is often too generalized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ML enables personalized, data-driven interventions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AD73156-2390-BB42-48B5-818ECA165475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69D47E-1E1D-D013-83ED-B79D1009CA11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1195628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15832-3B88-48CF-8043-95E6A4907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2241"/>
            <a:ext cx="3464560" cy="543560"/>
          </a:xfrm>
        </p:spPr>
        <p:txBody>
          <a:bodyPr>
            <a:normAutofit fontScale="90000"/>
          </a:bodyPr>
          <a:lstStyle/>
          <a:p>
            <a:r>
              <a:rPr lang="en-US" dirty="0"/>
              <a:t>Related Works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EE45AC8-1A14-101F-1D9F-29B90AE63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068589"/>
              </p:ext>
            </p:extLst>
          </p:nvPr>
        </p:nvGraphicFramePr>
        <p:xfrm>
          <a:off x="0" y="1690687"/>
          <a:ext cx="11503155" cy="442769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00631">
                  <a:extLst>
                    <a:ext uri="{9D8B030D-6E8A-4147-A177-3AD203B41FA5}">
                      <a16:colId xmlns:a16="http://schemas.microsoft.com/office/drawing/2014/main" val="3852838375"/>
                    </a:ext>
                  </a:extLst>
                </a:gridCol>
                <a:gridCol w="2300631">
                  <a:extLst>
                    <a:ext uri="{9D8B030D-6E8A-4147-A177-3AD203B41FA5}">
                      <a16:colId xmlns:a16="http://schemas.microsoft.com/office/drawing/2014/main" val="2741671884"/>
                    </a:ext>
                  </a:extLst>
                </a:gridCol>
                <a:gridCol w="2300631">
                  <a:extLst>
                    <a:ext uri="{9D8B030D-6E8A-4147-A177-3AD203B41FA5}">
                      <a16:colId xmlns:a16="http://schemas.microsoft.com/office/drawing/2014/main" val="3152723338"/>
                    </a:ext>
                  </a:extLst>
                </a:gridCol>
                <a:gridCol w="2300631">
                  <a:extLst>
                    <a:ext uri="{9D8B030D-6E8A-4147-A177-3AD203B41FA5}">
                      <a16:colId xmlns:a16="http://schemas.microsoft.com/office/drawing/2014/main" val="3782707398"/>
                    </a:ext>
                  </a:extLst>
                </a:gridCol>
                <a:gridCol w="2300631">
                  <a:extLst>
                    <a:ext uri="{9D8B030D-6E8A-4147-A177-3AD203B41FA5}">
                      <a16:colId xmlns:a16="http://schemas.microsoft.com/office/drawing/2014/main" val="2446998411"/>
                    </a:ext>
                  </a:extLst>
                </a:gridCol>
              </a:tblGrid>
              <a:tr h="2141697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lt1"/>
                          </a:solidFill>
                          <a:latin typeface="+mj-lt"/>
                          <a:ea typeface="+mn-ea"/>
                          <a:cs typeface="+mn-cs"/>
                        </a:rPr>
                        <a:t>The Rhythm of the Mind: Exploring the Link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lt1"/>
                          </a:solidFill>
                          <a:latin typeface="+mj-lt"/>
                          <a:ea typeface="+mn-ea"/>
                          <a:cs typeface="+mn-cs"/>
                        </a:rPr>
                        <a:t>Between Music Preferences and Mental Health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lt1"/>
                          </a:solidFill>
                          <a:latin typeface="+mj-lt"/>
                          <a:ea typeface="+mn-ea"/>
                          <a:cs typeface="+mn-cs"/>
                        </a:rPr>
                        <a:t>Through Machine Learning[4]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Andrew T. Lian</a:t>
                      </a: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Yong Chen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ML Methods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Logistic Regression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Decision Tree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Random Forest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Stochastic Gradient Descent Classifier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KNN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Adaptive Boosting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Bagging Classifier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Uses machine learning model to predict person’s mental health status from their playlist, combined with their demographic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-Doesn’t consider any mental health issues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-No focus on individuals’ music listening behavior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60928"/>
                  </a:ext>
                </a:extLst>
              </a:tr>
              <a:tr h="2141697">
                <a:tc>
                  <a:txBody>
                    <a:bodyPr/>
                    <a:lstStyle/>
                    <a:p>
                      <a:endParaRPr lang="en-US" sz="1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Unveiling the Connection: Music Preferences and Mental Health Through Machine Learning Analysis[3]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Karunya </a:t>
                      </a:r>
                      <a:r>
                        <a:rPr lang="en-US" sz="14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Thakeria</a:t>
                      </a: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Kritika Jain </a:t>
                      </a: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Khushi Sain </a:t>
                      </a: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Ritu Rani </a:t>
                      </a: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Arun Sharma </a:t>
                      </a: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Rajiv Sharma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ML Methods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KNN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Random Forest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Support Vector Machine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Decision Tree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Did EDA of the demographic data, music listening habit and mental health status. Predicts mental health effects based on music preferences.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-Lack of focus on genre-based analysis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-Incorporates favorite music with mental health issues, which increases biasness to one specific genre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24729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179C380-B729-5AE5-04F5-08E65AE305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410341"/>
              </p:ext>
            </p:extLst>
          </p:nvPr>
        </p:nvGraphicFramePr>
        <p:xfrm>
          <a:off x="0" y="685800"/>
          <a:ext cx="11503150" cy="100488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00630">
                  <a:extLst>
                    <a:ext uri="{9D8B030D-6E8A-4147-A177-3AD203B41FA5}">
                      <a16:colId xmlns:a16="http://schemas.microsoft.com/office/drawing/2014/main" val="1189139470"/>
                    </a:ext>
                  </a:extLst>
                </a:gridCol>
                <a:gridCol w="2300630">
                  <a:extLst>
                    <a:ext uri="{9D8B030D-6E8A-4147-A177-3AD203B41FA5}">
                      <a16:colId xmlns:a16="http://schemas.microsoft.com/office/drawing/2014/main" val="844957126"/>
                    </a:ext>
                  </a:extLst>
                </a:gridCol>
                <a:gridCol w="2300630">
                  <a:extLst>
                    <a:ext uri="{9D8B030D-6E8A-4147-A177-3AD203B41FA5}">
                      <a16:colId xmlns:a16="http://schemas.microsoft.com/office/drawing/2014/main" val="2669222392"/>
                    </a:ext>
                  </a:extLst>
                </a:gridCol>
                <a:gridCol w="2300630">
                  <a:extLst>
                    <a:ext uri="{9D8B030D-6E8A-4147-A177-3AD203B41FA5}">
                      <a16:colId xmlns:a16="http://schemas.microsoft.com/office/drawing/2014/main" val="4254876196"/>
                    </a:ext>
                  </a:extLst>
                </a:gridCol>
                <a:gridCol w="2300630">
                  <a:extLst>
                    <a:ext uri="{9D8B030D-6E8A-4147-A177-3AD203B41FA5}">
                      <a16:colId xmlns:a16="http://schemas.microsoft.com/office/drawing/2014/main" val="3023189851"/>
                    </a:ext>
                  </a:extLst>
                </a:gridCol>
              </a:tblGrid>
              <a:tr h="1004887"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32858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F01A9B5-37EE-2AA4-E867-67FD47463F4A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2897687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D7605-7D12-2F97-89E3-5BFBCFB4B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79E90-F6DB-2104-3FFF-8FE2FE7E2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1280" y="111760"/>
            <a:ext cx="3992880" cy="458511"/>
          </a:xfrm>
        </p:spPr>
        <p:txBody>
          <a:bodyPr>
            <a:normAutofit fontScale="90000"/>
          </a:bodyPr>
          <a:lstStyle/>
          <a:p>
            <a:r>
              <a:rPr lang="en-US" dirty="0"/>
              <a:t>Related Works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EAE85B7-1C1C-C879-DC12-C48926487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533285"/>
              </p:ext>
            </p:extLst>
          </p:nvPr>
        </p:nvGraphicFramePr>
        <p:xfrm>
          <a:off x="0" y="1371600"/>
          <a:ext cx="11503155" cy="47676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00631">
                  <a:extLst>
                    <a:ext uri="{9D8B030D-6E8A-4147-A177-3AD203B41FA5}">
                      <a16:colId xmlns:a16="http://schemas.microsoft.com/office/drawing/2014/main" val="3852838375"/>
                    </a:ext>
                  </a:extLst>
                </a:gridCol>
                <a:gridCol w="2300631">
                  <a:extLst>
                    <a:ext uri="{9D8B030D-6E8A-4147-A177-3AD203B41FA5}">
                      <a16:colId xmlns:a16="http://schemas.microsoft.com/office/drawing/2014/main" val="2741671884"/>
                    </a:ext>
                  </a:extLst>
                </a:gridCol>
                <a:gridCol w="2300631">
                  <a:extLst>
                    <a:ext uri="{9D8B030D-6E8A-4147-A177-3AD203B41FA5}">
                      <a16:colId xmlns:a16="http://schemas.microsoft.com/office/drawing/2014/main" val="3152723338"/>
                    </a:ext>
                  </a:extLst>
                </a:gridCol>
                <a:gridCol w="2300631">
                  <a:extLst>
                    <a:ext uri="{9D8B030D-6E8A-4147-A177-3AD203B41FA5}">
                      <a16:colId xmlns:a16="http://schemas.microsoft.com/office/drawing/2014/main" val="3782707398"/>
                    </a:ext>
                  </a:extLst>
                </a:gridCol>
                <a:gridCol w="2300631">
                  <a:extLst>
                    <a:ext uri="{9D8B030D-6E8A-4147-A177-3AD203B41FA5}">
                      <a16:colId xmlns:a16="http://schemas.microsoft.com/office/drawing/2014/main" val="2446998411"/>
                    </a:ext>
                  </a:extLst>
                </a:gridCol>
              </a:tblGrid>
              <a:tr h="2481634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TOWARDS EFFECTIVE MUSIC THERAPY FOR MENTAL</a:t>
                      </a: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HEALTH CARE USING MACHINE LEARNING TOOLS:</a:t>
                      </a:r>
                    </a:p>
                    <a:p>
                      <a:r>
                        <a:rPr lang="en-US" sz="14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HUMAN AFFECTIVE REASONING AND MUSIC GENRES[2]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Jessica Sharmin Rahman</a:t>
                      </a:r>
                    </a:p>
                    <a:p>
                      <a:pPr algn="l"/>
                      <a:r>
                        <a:rPr lang="en-US" sz="14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Tom Gedeon</a:t>
                      </a:r>
                    </a:p>
                    <a:p>
                      <a:pPr algn="l"/>
                      <a:r>
                        <a:rPr lang="en-US" sz="14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Sabrina Caldwell Richard Jones</a:t>
                      </a:r>
                    </a:p>
                    <a:p>
                      <a:pPr algn="l"/>
                      <a:r>
                        <a:rPr lang="en-US" sz="14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Zi Jin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ML/DL METHODS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K-NN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SVM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Neural Network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 Electrodermal </a:t>
                      </a:r>
                      <a:r>
                        <a:rPr lang="en-US" sz="14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activity,Blood</a:t>
                      </a:r>
                      <a:r>
                        <a:rPr lang="en-US" sz="14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Volume </a:t>
                      </a:r>
                      <a:r>
                        <a:rPr lang="en-US" sz="14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Pulse,Skin</a:t>
                      </a:r>
                      <a:r>
                        <a:rPr lang="en-US" sz="14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Temperature and pupil dilation to predict genre of music the participant’s listening to and his emotional state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-</a:t>
                      </a:r>
                      <a:r>
                        <a:rPr lang="en-US" sz="1400" b="0" dirty="0"/>
                        <a:t>Mental health issues are not considered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-</a:t>
                      </a:r>
                      <a:r>
                        <a:rPr lang="en-US" sz="1400" b="0" dirty="0" err="1"/>
                        <a:t>Deprends</a:t>
                      </a:r>
                      <a:r>
                        <a:rPr lang="en-US" sz="1400" b="0" dirty="0"/>
                        <a:t> on physiological signals which requires costly sensors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60928"/>
                  </a:ext>
                </a:extLst>
              </a:tr>
              <a:tr h="21601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Twitter-</a:t>
                      </a:r>
                      <a:r>
                        <a:rPr lang="en-US" dirty="0" err="1"/>
                        <a:t>MusicPD</a:t>
                      </a:r>
                      <a:r>
                        <a:rPr lang="en-US" dirty="0"/>
                        <a:t>: melody of minds - navigating user-level data on multiple mental health disorders and music preferences[5]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Soroush Zamani </a:t>
                      </a:r>
                      <a:r>
                        <a:rPr lang="en-US" sz="1400" dirty="0" err="1"/>
                        <a:t>Alavijeh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Xingwei</a:t>
                      </a:r>
                      <a:r>
                        <a:rPr lang="en-US" sz="1400" dirty="0"/>
                        <a:t> Yang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Zeinab </a:t>
                      </a:r>
                      <a:r>
                        <a:rPr lang="en-US" sz="1400" dirty="0" err="1"/>
                        <a:t>Noorian</a:t>
                      </a:r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Amira </a:t>
                      </a:r>
                      <a:r>
                        <a:rPr lang="en-US" sz="1400" dirty="0" err="1"/>
                        <a:t>Ghenai</a:t>
                      </a:r>
                      <a:r>
                        <a:rPr lang="en-US" sz="1400" dirty="0"/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Fattane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Zarrinkalam</a:t>
                      </a:r>
                      <a:r>
                        <a:rPr lang="en-US" sz="1400" dirty="0"/>
                        <a:t> 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ML/DL METHODS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NLP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Analyzed 8.9 million tweets to explore correlations between users’ music preferences and self-reported mental health disorders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-Reliance on self-reported diagnostic keywords</a:t>
                      </a:r>
                    </a:p>
                    <a:p>
                      <a:r>
                        <a:rPr lang="en-US" sz="1400" dirty="0"/>
                        <a:t>-Undercounting of actual music listeners</a:t>
                      </a:r>
                    </a:p>
                    <a:p>
                      <a:r>
                        <a:rPr lang="en-US" sz="1400" dirty="0"/>
                        <a:t>-Personalized music recommendation is not included in this study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24729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17A9D04-7B76-B9C8-A519-051E0E068D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227913"/>
              </p:ext>
            </p:extLst>
          </p:nvPr>
        </p:nvGraphicFramePr>
        <p:xfrm>
          <a:off x="0" y="685800"/>
          <a:ext cx="11503150" cy="6858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00630">
                  <a:extLst>
                    <a:ext uri="{9D8B030D-6E8A-4147-A177-3AD203B41FA5}">
                      <a16:colId xmlns:a16="http://schemas.microsoft.com/office/drawing/2014/main" val="1189139470"/>
                    </a:ext>
                  </a:extLst>
                </a:gridCol>
                <a:gridCol w="2300630">
                  <a:extLst>
                    <a:ext uri="{9D8B030D-6E8A-4147-A177-3AD203B41FA5}">
                      <a16:colId xmlns:a16="http://schemas.microsoft.com/office/drawing/2014/main" val="844957126"/>
                    </a:ext>
                  </a:extLst>
                </a:gridCol>
                <a:gridCol w="2300630">
                  <a:extLst>
                    <a:ext uri="{9D8B030D-6E8A-4147-A177-3AD203B41FA5}">
                      <a16:colId xmlns:a16="http://schemas.microsoft.com/office/drawing/2014/main" val="2669222392"/>
                    </a:ext>
                  </a:extLst>
                </a:gridCol>
                <a:gridCol w="2300630">
                  <a:extLst>
                    <a:ext uri="{9D8B030D-6E8A-4147-A177-3AD203B41FA5}">
                      <a16:colId xmlns:a16="http://schemas.microsoft.com/office/drawing/2014/main" val="4254876196"/>
                    </a:ext>
                  </a:extLst>
                </a:gridCol>
                <a:gridCol w="2300630">
                  <a:extLst>
                    <a:ext uri="{9D8B030D-6E8A-4147-A177-3AD203B41FA5}">
                      <a16:colId xmlns:a16="http://schemas.microsoft.com/office/drawing/2014/main" val="3023189851"/>
                    </a:ext>
                  </a:extLst>
                </a:gridCol>
              </a:tblGrid>
              <a:tr h="685801"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32858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D5A0050-0F73-8192-36F2-296D5C417E33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3298006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1A615-56CD-EAD6-EB72-818B601F5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4480560" cy="772160"/>
          </a:xfrm>
        </p:spPr>
        <p:txBody>
          <a:bodyPr/>
          <a:lstStyle/>
          <a:p>
            <a:r>
              <a:rPr lang="en-US" dirty="0"/>
              <a:t>Related Works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C9E5BF2-CADC-077E-B9FD-0CD0DEC0B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652080"/>
              </p:ext>
            </p:extLst>
          </p:nvPr>
        </p:nvGraphicFramePr>
        <p:xfrm>
          <a:off x="71120" y="1690688"/>
          <a:ext cx="11432035" cy="389600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86407">
                  <a:extLst>
                    <a:ext uri="{9D8B030D-6E8A-4147-A177-3AD203B41FA5}">
                      <a16:colId xmlns:a16="http://schemas.microsoft.com/office/drawing/2014/main" val="3852838375"/>
                    </a:ext>
                  </a:extLst>
                </a:gridCol>
                <a:gridCol w="2286407">
                  <a:extLst>
                    <a:ext uri="{9D8B030D-6E8A-4147-A177-3AD203B41FA5}">
                      <a16:colId xmlns:a16="http://schemas.microsoft.com/office/drawing/2014/main" val="2741671884"/>
                    </a:ext>
                  </a:extLst>
                </a:gridCol>
                <a:gridCol w="2286407">
                  <a:extLst>
                    <a:ext uri="{9D8B030D-6E8A-4147-A177-3AD203B41FA5}">
                      <a16:colId xmlns:a16="http://schemas.microsoft.com/office/drawing/2014/main" val="3152723338"/>
                    </a:ext>
                  </a:extLst>
                </a:gridCol>
                <a:gridCol w="2286407">
                  <a:extLst>
                    <a:ext uri="{9D8B030D-6E8A-4147-A177-3AD203B41FA5}">
                      <a16:colId xmlns:a16="http://schemas.microsoft.com/office/drawing/2014/main" val="3782707398"/>
                    </a:ext>
                  </a:extLst>
                </a:gridCol>
                <a:gridCol w="2286407">
                  <a:extLst>
                    <a:ext uri="{9D8B030D-6E8A-4147-A177-3AD203B41FA5}">
                      <a16:colId xmlns:a16="http://schemas.microsoft.com/office/drawing/2014/main" val="2446998411"/>
                    </a:ext>
                  </a:extLst>
                </a:gridCol>
              </a:tblGrid>
              <a:tr h="2311041">
                <a:tc>
                  <a:txBody>
                    <a:bodyPr/>
                    <a:lstStyle/>
                    <a:p>
                      <a:r>
                        <a:rPr lang="en-US" sz="1800" b="0" dirty="0"/>
                        <a:t>Exploring Relationship between music and mood through machine learning technique[6]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/>
                        <a:t>Shital Shankar Gujar</a:t>
                      </a:r>
                    </a:p>
                    <a:p>
                      <a:pPr algn="l"/>
                      <a:r>
                        <a:rPr lang="en-US" sz="1400" b="0" dirty="0"/>
                        <a:t>Ali Yawar Reha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ML/DL METHODS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SVM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Analyzes the relationship between individuals’ emotional state based on musical attributes collected from different music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-Mental health issues are not considered while considering emotional state</a:t>
                      </a:r>
                    </a:p>
                    <a:p>
                      <a:endParaRPr lang="en-US" sz="14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-Relationship between music and mental health in this case is generalized </a:t>
                      </a:r>
                      <a:endParaRPr 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60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Recommendation of Music Based on DASS-21 (Depression, Anxiety, Stress Scales) Using Fuzzy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Eunyoung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Wang</a:t>
                      </a:r>
                    </a:p>
                    <a:p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Hyeokmin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Lee</a:t>
                      </a:r>
                    </a:p>
                    <a:p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Kyunghee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Do</a:t>
                      </a:r>
                    </a:p>
                    <a:p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Moonhwan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Lee</a:t>
                      </a:r>
                    </a:p>
                    <a:p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Sungtaek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Chung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ML/DL METHODS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Fuzzy C means Clustering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Uses DASS‑21 scores and fuzzy clustering on ~39,000 responses to segment psychological states and recommend tailored music lists via a mobile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-Weekly-only emotional measurement</a:t>
                      </a:r>
                    </a:p>
                    <a:p>
                      <a:r>
                        <a:rPr lang="en-US" sz="1400" dirty="0"/>
                        <a:t>-Static weekly playlist (no real-time updates)</a:t>
                      </a:r>
                    </a:p>
                    <a:p>
                      <a:r>
                        <a:rPr lang="en-US" sz="1400" dirty="0"/>
                        <a:t>-Potential questionnaire memorization by users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24729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924D923-D162-92C2-3698-A9C817084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439183"/>
              </p:ext>
            </p:extLst>
          </p:nvPr>
        </p:nvGraphicFramePr>
        <p:xfrm>
          <a:off x="71120" y="772161"/>
          <a:ext cx="11432030" cy="91852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86406">
                  <a:extLst>
                    <a:ext uri="{9D8B030D-6E8A-4147-A177-3AD203B41FA5}">
                      <a16:colId xmlns:a16="http://schemas.microsoft.com/office/drawing/2014/main" val="1189139470"/>
                    </a:ext>
                  </a:extLst>
                </a:gridCol>
                <a:gridCol w="2286406">
                  <a:extLst>
                    <a:ext uri="{9D8B030D-6E8A-4147-A177-3AD203B41FA5}">
                      <a16:colId xmlns:a16="http://schemas.microsoft.com/office/drawing/2014/main" val="844957126"/>
                    </a:ext>
                  </a:extLst>
                </a:gridCol>
                <a:gridCol w="2286406">
                  <a:extLst>
                    <a:ext uri="{9D8B030D-6E8A-4147-A177-3AD203B41FA5}">
                      <a16:colId xmlns:a16="http://schemas.microsoft.com/office/drawing/2014/main" val="2669222392"/>
                    </a:ext>
                  </a:extLst>
                </a:gridCol>
                <a:gridCol w="2286406">
                  <a:extLst>
                    <a:ext uri="{9D8B030D-6E8A-4147-A177-3AD203B41FA5}">
                      <a16:colId xmlns:a16="http://schemas.microsoft.com/office/drawing/2014/main" val="4254876196"/>
                    </a:ext>
                  </a:extLst>
                </a:gridCol>
                <a:gridCol w="2286406">
                  <a:extLst>
                    <a:ext uri="{9D8B030D-6E8A-4147-A177-3AD203B41FA5}">
                      <a16:colId xmlns:a16="http://schemas.microsoft.com/office/drawing/2014/main" val="3023189851"/>
                    </a:ext>
                  </a:extLst>
                </a:gridCol>
              </a:tblGrid>
              <a:tr h="918526"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32858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A08E3C2-AC13-DA91-9A95-4D420762CAEC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2266154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85544-C200-BEF3-61CE-CCB5EE891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823729"/>
            <a:ext cx="10654936" cy="1325563"/>
          </a:xfrm>
        </p:spPr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5806B-4BE0-6B7B-FE18-DF2D75670717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22178" y="3028335"/>
            <a:ext cx="10855422" cy="262650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mental health scores and genre-wise listening behavior predict the psychological effect of music genres?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can these predictions support therapists and mental health platforms with actionable insights?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personalized music therapy be introduced in mental health treatments?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98B1C-17C0-225A-63BE-3BFA537F15CD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1147369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E475-8216-6181-04E9-C2CD868B2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586" y="365125"/>
            <a:ext cx="10347973" cy="1325563"/>
          </a:xfrm>
        </p:spPr>
        <p:txBody>
          <a:bodyPr/>
          <a:lstStyle/>
          <a:p>
            <a:r>
              <a:rPr lang="en-US" dirty="0"/>
              <a:t>Research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5BD31-7CFC-4400-A486-27AB93CD6E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8000" y="2198914"/>
            <a:ext cx="10567560" cy="3445987"/>
          </a:xfrm>
        </p:spPr>
        <p:txBody>
          <a:bodyPr/>
          <a:lstStyle/>
          <a:p>
            <a:r>
              <a:rPr lang="en-US" dirty="0"/>
              <a:t>Collect and preprocess data on mental health scores and music listening frequency</a:t>
            </a:r>
          </a:p>
          <a:p>
            <a:r>
              <a:rPr lang="en-US" dirty="0"/>
              <a:t>Restructure data for genre-wise prediction of music’s psychological effect</a:t>
            </a:r>
          </a:p>
          <a:p>
            <a:r>
              <a:rPr lang="en-US" dirty="0"/>
              <a:t>Generate personalized genre-level predictions to assist mental health professionals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125219-6D6B-5451-0CE1-49D3E1E6A156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738052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14DB-38C8-553D-00EE-1C4013EDC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6454" y="2546554"/>
            <a:ext cx="6874256" cy="1216406"/>
          </a:xfrm>
        </p:spPr>
        <p:txBody>
          <a:bodyPr/>
          <a:lstStyle/>
          <a:p>
            <a:pPr algn="ctr"/>
            <a:r>
              <a:rPr lang="en-US" dirty="0"/>
              <a:t>		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D4EF6-276C-D660-182F-36FF0F0EC3E5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1488051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E0BC0-2B4E-F620-7AC0-03B09BCA2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27496"/>
            <a:ext cx="5689600" cy="996991"/>
          </a:xfrm>
        </p:spPr>
        <p:txBody>
          <a:bodyPr>
            <a:normAutofit/>
          </a:bodyPr>
          <a:lstStyle/>
          <a:p>
            <a:r>
              <a:rPr lang="en-US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356AE-53D9-1F4F-68B9-3E2F92043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Contains 33 features</a:t>
            </a:r>
          </a:p>
          <a:p>
            <a:r>
              <a:rPr lang="en-US" dirty="0"/>
              <a:t>Frequency of listening to 16 different genres of music of individuals, their self-reported level of 4 different mental health issues and how music affects their mental health conditions (improve, worsen, no-effect) – these are some of the significant features.</a:t>
            </a:r>
          </a:p>
          <a:p>
            <a:r>
              <a:rPr lang="en-US" dirty="0"/>
              <a:t>Some other features are age, favorite genre, hours per day (listens to music), if they are instrumentalist or not etc. data are there as features.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0D2543-6058-2637-D1DF-6893EAD226CB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2952492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C4025-755E-D065-B437-A386F0D93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89" y="181905"/>
            <a:ext cx="6441440" cy="1325563"/>
          </a:xfrm>
        </p:spPr>
        <p:txBody>
          <a:bodyPr/>
          <a:lstStyle/>
          <a:p>
            <a:r>
              <a:rPr lang="en-US" dirty="0"/>
              <a:t>Dataset Demonstration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58954EF-1B4E-3AC0-FFB9-D5FED1D66F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2213" y="1844812"/>
            <a:ext cx="9792549" cy="4168501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D2AA247-E79E-0EED-8132-BFF97B9211E2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1291192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21">
            <a:extLst>
              <a:ext uri="{FF2B5EF4-FFF2-40B4-BE49-F238E27FC236}">
                <a16:creationId xmlns:a16="http://schemas.microsoft.com/office/drawing/2014/main" id="{B551C3B6-A0D6-43F6-9F68-13666CDA5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2" y="709375"/>
            <a:ext cx="10713675" cy="541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4" name="Rectangle 123">
            <a:extLst>
              <a:ext uri="{FF2B5EF4-FFF2-40B4-BE49-F238E27FC236}">
                <a16:creationId xmlns:a16="http://schemas.microsoft.com/office/drawing/2014/main" id="{73C994B4-9721-4148-9EEC-6793CECDE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3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F9D95E49-763A-4886-B038-82F734740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B28EC6A1-D299-4AFF-AD16-9ADC9A31F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699899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F1EFFE-CE18-1301-40AF-E98B884DA6A8}"/>
              </a:ext>
            </a:extLst>
          </p:cNvPr>
          <p:cNvSpPr txBox="1"/>
          <p:nvPr/>
        </p:nvSpPr>
        <p:spPr>
          <a:xfrm>
            <a:off x="4793155" y="43426"/>
            <a:ext cx="2260787" cy="7795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WORK-FLOW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85EE6CD-C61E-4F22-9787-1ADF1D3EB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1493126" y="699894"/>
            <a:ext cx="698873" cy="5466696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chemeClr val="accent5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060C424-AE6E-4E63-BB6C-303952196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A3A5461B-0FE0-4F7B-B087-D898AA153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22FDC78-D8BC-67C8-09DF-B838083F6080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  <p:pic>
        <p:nvPicPr>
          <p:cNvPr id="7" name="Picture 6" descr="A diagram of a model training&#10;&#10;AI-generated content may be incorrect.">
            <a:extLst>
              <a:ext uri="{FF2B5EF4-FFF2-40B4-BE49-F238E27FC236}">
                <a16:creationId xmlns:a16="http://schemas.microsoft.com/office/drawing/2014/main" id="{4420DF89-21D9-2F33-398B-0B40D23E1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00" y="1338524"/>
            <a:ext cx="11400000" cy="4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044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6A0F4-9993-53BB-D4BE-67A9A3DC1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040" y="944880"/>
            <a:ext cx="5882640" cy="710107"/>
          </a:xfrm>
        </p:spPr>
        <p:txBody>
          <a:bodyPr>
            <a:normAutofit fontScale="90000"/>
          </a:bodyPr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02933-4B3E-F487-4E8B-BE349BB15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7032" y="1798320"/>
            <a:ext cx="9144000" cy="351536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Retained only columns relevant to mental health and music listening behavior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Ordinal encoding of genre-listening frequency: ’Never’: 0, ’Rarely’: 1, ’Sometimes’: 2, ’Very Frequently’: 3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One-hot encoding of categorical genre types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Label encoding of the target feature (“Music effects”) into numeric values for model training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Dropped irrelevant columns such as ’Timestamp’, ’Permissions’ etc.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Removed records containing null values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694A88-7782-4B42-24A7-A26FE6FC6685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3385153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42572A-1ACD-7F91-3D03-75B95E9CB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938306"/>
            <a:ext cx="9473184" cy="3938494"/>
          </a:xfrm>
        </p:spPr>
        <p:txBody>
          <a:bodyPr/>
          <a:lstStyle/>
          <a:p>
            <a:pPr algn="ctr"/>
            <a:r>
              <a:rPr lang="en-US" sz="5400" dirty="0"/>
              <a:t>Exploratory Data Analysis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C053C9-EAF4-6928-7C4E-1819EED1254E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3394318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3853F317-C6AD-423F-0AF5-A28FE7973AB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842" r="1842"/>
          <a:stretch>
            <a:fillRect/>
          </a:stretch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383A2CE-6CEF-779D-668A-24541A7E5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489200"/>
            <a:ext cx="3932237" cy="3180080"/>
          </a:xfrm>
        </p:spPr>
        <p:txBody>
          <a:bodyPr/>
          <a:lstStyle/>
          <a:p>
            <a:r>
              <a:rPr lang="en-US" dirty="0"/>
              <a:t>-Improve: 536 participants</a:t>
            </a:r>
          </a:p>
          <a:p>
            <a:r>
              <a:rPr lang="en-US" dirty="0"/>
              <a:t>-No Effect: 166 participants</a:t>
            </a:r>
          </a:p>
          <a:p>
            <a:r>
              <a:rPr lang="en-US" dirty="0"/>
              <a:t>- Worsen: 17 participants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B7467761-328E-8D6B-6813-4D6EDF23F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52861" cy="20574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Musical Effect Distribution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CB822B-5DB7-7D61-5698-F6FA0814B95A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3824869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91BBF062-9E81-0E46-2A84-A0525DA60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2720"/>
            <a:ext cx="10586720" cy="1280160"/>
          </a:xfrm>
        </p:spPr>
        <p:txBody>
          <a:bodyPr>
            <a:normAutofit/>
          </a:bodyPr>
          <a:lstStyle/>
          <a:p>
            <a:r>
              <a:rPr lang="en-US" dirty="0"/>
              <a:t>Mental Health Trends by Favorite Genre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C61D3D85-4EDF-2D4A-8939-BF2F1F0331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05280"/>
            <a:ext cx="11297920" cy="442722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35CFDC-6550-F5A0-E6D2-E432F3F11B87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891542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3AA84-3053-3FEA-51D5-D9CA1DC9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5208016" cy="1325563"/>
          </a:xfrm>
        </p:spPr>
        <p:txBody>
          <a:bodyPr/>
          <a:lstStyle/>
          <a:p>
            <a:r>
              <a:rPr lang="en-US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FA445-B4D6-63C2-1833-6E8A56756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Metal, rock and </a:t>
            </a:r>
            <a:r>
              <a:rPr lang="en-US" dirty="0" err="1"/>
              <a:t>lofi</a:t>
            </a:r>
            <a:r>
              <a:rPr lang="en-US" dirty="0"/>
              <a:t> fans exhibit the highest levels across all metrics, suggesting a possible link to mental health challenges</a:t>
            </a:r>
          </a:p>
          <a:p>
            <a:r>
              <a:rPr lang="en-US" dirty="0"/>
              <a:t>Gospel listeners report the lowest levels, indicating a potential protective effect</a:t>
            </a:r>
          </a:p>
          <a:p>
            <a:r>
              <a:rPr lang="en-US" dirty="0"/>
              <a:t>Classical and country genres are associated with relatively lower levels, hinting at a calming influence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F0EF9B-5409-8895-8FBB-0534CFEDCE60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1845730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1664E40-1152-0523-9DAC-0493EA334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Genre-wise Impact on Perceived Music Effect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4D35E72-0FA0-44C0-C438-258709910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625" y="1825625"/>
            <a:ext cx="7732775" cy="4206875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FFB9D1E-79A2-6E47-C73C-18A8EB463E7C}"/>
              </a:ext>
            </a:extLst>
          </p:cNvPr>
          <p:cNvSpPr txBox="1"/>
          <p:nvPr/>
        </p:nvSpPr>
        <p:spPr>
          <a:xfrm>
            <a:off x="8318500" y="2082800"/>
            <a:ext cx="29845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-Metal, Pop and Rock are associated with higher improve rating 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-Metal and EDM showed more mixed effect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083BC-D192-10A8-E0F1-6E47E03C1CCD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1587717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E30A8-96F7-CC90-6EA3-48A5BA830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1"/>
            <a:ext cx="5791200" cy="1320799"/>
          </a:xfrm>
        </p:spPr>
        <p:txBody>
          <a:bodyPr/>
          <a:lstStyle/>
          <a:p>
            <a:r>
              <a:rPr lang="en-US" dirty="0"/>
              <a:t>Data Reframing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6CD32-1F1B-A176-6B0F-CE3806FA9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619148"/>
            <a:ext cx="10207752" cy="4206383"/>
          </a:xfrm>
        </p:spPr>
        <p:txBody>
          <a:bodyPr>
            <a:normAutofit/>
          </a:bodyPr>
          <a:lstStyle/>
          <a:p>
            <a:r>
              <a:rPr lang="en-US" sz="2800" dirty="0"/>
              <a:t>Transformed wide-format data into long-format structure</a:t>
            </a:r>
          </a:p>
          <a:p>
            <a:r>
              <a:rPr lang="en-US" sz="2800" dirty="0"/>
              <a:t>Expanded each participant into 16 genre-specific rows</a:t>
            </a:r>
          </a:p>
          <a:p>
            <a:r>
              <a:rPr lang="en-US" sz="2800" dirty="0"/>
              <a:t>Added 'Genre' and ordinally encoded 'Frequency' columns</a:t>
            </a:r>
          </a:p>
          <a:p>
            <a:r>
              <a:rPr lang="en-US" sz="2800" dirty="0"/>
              <a:t>Preserved mental health scores and 'Music effects' labels per row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E41B58-76DB-6180-99FF-41747896AA5C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540888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15BB4AB-2702-B3BF-8F73-4C543FC4A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179" y="977900"/>
            <a:ext cx="4924522" cy="703263"/>
          </a:xfrm>
        </p:spPr>
        <p:txBody>
          <a:bodyPr/>
          <a:lstStyle/>
          <a:p>
            <a:r>
              <a:rPr lang="en-US" dirty="0"/>
              <a:t>Before Data Reframing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4F2ED30A-ABC5-8CF8-BBFB-B19A04ABF2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22178" y="1892300"/>
            <a:ext cx="4924522" cy="4139707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0B22EBC-9565-B13A-3C35-5A485C1BC5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54590" y="977900"/>
            <a:ext cx="5183188" cy="703263"/>
          </a:xfrm>
        </p:spPr>
        <p:txBody>
          <a:bodyPr/>
          <a:lstStyle/>
          <a:p>
            <a:r>
              <a:rPr lang="en-US" dirty="0"/>
              <a:t>After Data Reframing</a:t>
            </a: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6DC8409F-9C86-ECF4-7701-8522549E8DA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754590" y="1892299"/>
            <a:ext cx="5183188" cy="413970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9AEFC1-CC52-B13F-4D2C-8A3B1A0CDC67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4256434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5219F30-5E5A-940E-395C-B40830224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Imbalance Handling 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D4411027-6457-0F96-14F4-0A3FB939DAE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842" r="1842"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DCEEBE8-DA32-938B-CD6D-B2EB248CA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-To mitigate, SMOTE[3][8] was employed during the training phase on training data </a:t>
            </a:r>
          </a:p>
          <a:p>
            <a:endParaRPr lang="en-US" sz="2000" dirty="0"/>
          </a:p>
          <a:p>
            <a:r>
              <a:rPr lang="en-US" sz="2000" dirty="0"/>
              <a:t>-It is a </a:t>
            </a:r>
            <a:r>
              <a:rPr lang="en-US" dirty="0"/>
              <a:t>resampling method that generates synthetic data points for underrepresented classes by interpolating between existing minority class samples.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E48927-22D7-959A-F64E-267657DB6627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2592888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BE1AD-2E6F-C502-CAAA-A5D33BA41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7328" y="489399"/>
            <a:ext cx="3932237" cy="941439"/>
          </a:xfrm>
        </p:spPr>
        <p:txBody>
          <a:bodyPr/>
          <a:lstStyle/>
          <a:p>
            <a:r>
              <a:rPr lang="en-US" dirty="0"/>
              <a:t>Model Training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CE725-AAE5-3840-A628-4964BED3A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0057" y="1894539"/>
            <a:ext cx="3932237" cy="3669647"/>
          </a:xfrm>
        </p:spPr>
        <p:txBody>
          <a:bodyPr/>
          <a:lstStyle/>
          <a:p>
            <a:r>
              <a:rPr lang="en-US" b="1" dirty="0"/>
              <a:t>ML Models</a:t>
            </a:r>
            <a:r>
              <a:rPr lang="en-US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Random Forest (with 800 estimators or decision trees)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XGBoost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Neural Network (a five-layer feedforward neural network)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DB3E36-F3AA-E923-64FE-C56061871ADF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75DD167-2214-8248-4B6F-8A577C0FBC0D}"/>
              </a:ext>
            </a:extLst>
          </p:cNvPr>
          <p:cNvSpPr txBox="1">
            <a:spLocks/>
          </p:cNvSpPr>
          <p:nvPr/>
        </p:nvSpPr>
        <p:spPr>
          <a:xfrm>
            <a:off x="5567812" y="1894539"/>
            <a:ext cx="3932237" cy="3669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D1C9076-3F77-E594-4E6F-789F647950FF}"/>
              </a:ext>
            </a:extLst>
          </p:cNvPr>
          <p:cNvSpPr txBox="1">
            <a:spLocks/>
          </p:cNvSpPr>
          <p:nvPr/>
        </p:nvSpPr>
        <p:spPr>
          <a:xfrm>
            <a:off x="5567811" y="1894539"/>
            <a:ext cx="3932237" cy="3582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72DCE84-E5AF-2AE5-CEB3-665FB5284E3B}"/>
              </a:ext>
            </a:extLst>
          </p:cNvPr>
          <p:cNvSpPr txBox="1">
            <a:spLocks/>
          </p:cNvSpPr>
          <p:nvPr/>
        </p:nvSpPr>
        <p:spPr>
          <a:xfrm>
            <a:off x="6163329" y="1894538"/>
            <a:ext cx="3932237" cy="3669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Input 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Frequency of listening to different genres of music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Mental health disorders’ ratings</a:t>
            </a:r>
          </a:p>
          <a:p>
            <a:r>
              <a:rPr lang="en-US" sz="2000" b="1" dirty="0"/>
              <a:t>Output 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Music effects (Music’s Impact)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82288E-C5EF-9712-076D-3C5D33525E76}"/>
              </a:ext>
            </a:extLst>
          </p:cNvPr>
          <p:cNvSpPr txBox="1"/>
          <p:nvPr/>
        </p:nvSpPr>
        <p:spPr>
          <a:xfrm>
            <a:off x="1317523" y="4955458"/>
            <a:ext cx="9261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Predicts music’s effect on individual with mental health issues based on genre-wise music listening frequency </a:t>
            </a:r>
          </a:p>
        </p:txBody>
      </p:sp>
    </p:spTree>
    <p:extLst>
      <p:ext uri="{BB962C8B-B14F-4D97-AF65-F5344CB8AC3E}">
        <p14:creationId xmlns:p14="http://schemas.microsoft.com/office/powerpoint/2010/main" val="2753939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E149E-CD28-8C95-43A2-8E0840049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&amp; Discussion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A5CF914-4C27-57CB-3325-12FB18EDF1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5830" y="2013238"/>
            <a:ext cx="10670795" cy="3126311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7CF5FF-2C5B-C293-3790-B1239B754006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16494077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A5E9A-CE70-1C52-D12E-38B1C3DC1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&amp;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1090C-283F-9E6C-6296-DF56EBD25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205" y="2507696"/>
            <a:ext cx="10515600" cy="4206383"/>
          </a:xfrm>
        </p:spPr>
        <p:txBody>
          <a:bodyPr/>
          <a:lstStyle/>
          <a:p>
            <a:r>
              <a:rPr lang="en-US" dirty="0"/>
              <a:t>Our system surpasses the previous study, done by Karunya et al.[3], achieving better accuracy (94%) and macro F1-score (91%).</a:t>
            </a:r>
          </a:p>
          <a:p>
            <a:r>
              <a:rPr lang="en-US" dirty="0"/>
              <a:t>This ensures our system’s effectiveness in personalized genre-based music suggestion in tailoring mental health treatments which is our key goal.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2AACCF-C95C-8F45-5571-95CA3CAE1A2E}"/>
              </a:ext>
            </a:extLst>
          </p:cNvPr>
          <p:cNvSpPr txBox="1"/>
          <p:nvPr/>
        </p:nvSpPr>
        <p:spPr>
          <a:xfrm>
            <a:off x="5258432" y="6262246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1106483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6A0F4-9993-53BB-D4BE-67A9A3DC1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7032" y="863024"/>
            <a:ext cx="9144000" cy="791963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 &amp; Future Work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02933-4B3E-F487-4E8B-BE349BB15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7032" y="1798320"/>
            <a:ext cx="9144000" cy="3286442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Our study went through a broad analysis of how people’s daily music listening habits of different genres can affect their mental health. Result of our work supports our goal of associating genre-based music preference and </a:t>
            </a:r>
            <a:r>
              <a:rPr lang="en-US" sz="2000"/>
              <a:t>mental health issues.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Different demographic data, that relates to mental health, can be useful for building a more robust model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Expert Annotated Mental Health Ratings can create more robust dataset, allowing the model to work more effectively</a:t>
            </a:r>
          </a:p>
          <a:p>
            <a:pPr algn="l"/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3AE94-89F5-904A-71FA-7822500F15A3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32578663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F6B8D-CDE9-7882-B743-5E69617A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BB9C4-0B24-6B5C-F501-056986E24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6A983E-F481-D207-CF0F-54D09B355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333" y="1486637"/>
            <a:ext cx="9899904" cy="4142248"/>
          </a:xfrm>
        </p:spPr>
        <p:txBody>
          <a:bodyPr>
            <a:normAutofit/>
          </a:bodyPr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RHRHSI+TimesNewRomanPSM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700" dirty="0"/>
              <a:t> Lavinia </a:t>
            </a:r>
            <a:r>
              <a:rPr lang="en-US" sz="1700" dirty="0" err="1"/>
              <a:t>Rebecchini</a:t>
            </a:r>
            <a:r>
              <a:rPr lang="en-US" sz="1700" dirty="0"/>
              <a:t>, ”Music, mental health, and immunity,”, Brain Behavior &amp; Immunity - Health, vol. 18, p. 100374, Oct. 2021, doi:10.1016/j.bbih.2021.100374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700" dirty="0"/>
              <a:t>J. S. Rahman, T. Gedeon, S. Caldwell, R. Jones, and Z. Jin, “Towards effective music therapy for mental health care using machine learning tools: human affective reasoning and music genres,”, Journal of Artificial Intelligence and Soft Computing Research, vol. 11, no. 1, pp. 5–20, Dec. 2020, </a:t>
            </a:r>
            <a:r>
              <a:rPr lang="en-US" sz="1700" dirty="0" err="1"/>
              <a:t>doi</a:t>
            </a:r>
            <a:r>
              <a:rPr lang="en-US" sz="1700" dirty="0"/>
              <a:t>: 10.2478/jaiscr-2021-0001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700" dirty="0"/>
              <a:t>Karunya </a:t>
            </a:r>
            <a:r>
              <a:rPr lang="en-US" sz="1700" dirty="0" err="1"/>
              <a:t>Thakeria</a:t>
            </a:r>
            <a:r>
              <a:rPr lang="en-US" sz="1700" dirty="0"/>
              <a:t>, Kritika Jain, Khushi Sain, Ritu Rani, Arun Sharma and Rajiv Sharma, “Unveiling the connection: music preferences and mental health through machine learning analysis,” IEEE Conference Publication — IEEE Xplore, Jan. 09, 2025, </a:t>
            </a:r>
            <a:r>
              <a:rPr lang="en-US" sz="1700" dirty="0" err="1"/>
              <a:t>doi</a:t>
            </a:r>
            <a:r>
              <a:rPr lang="en-US" sz="1700" dirty="0"/>
              <a:t>: 10.1109/ICAECT63952.2025.10958841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Andrew T. Lian and Yong Chen, “The Rhythm of the Mind: Exploring the link between music preferences and mental health through machine learning,” IEEE Conference Publication — IEEE Xplore, Dec. 15, 2024. doi:10.1109/BigData62323.2024.10825903</a:t>
            </a:r>
          </a:p>
          <a:p>
            <a:pPr marL="457200" indent="-457200">
              <a:buFont typeface="+mj-lt"/>
              <a:buAutoNum type="arabicPeriod"/>
            </a:pPr>
            <a:endParaRPr lang="en-US" sz="1700" dirty="0"/>
          </a:p>
          <a:p>
            <a:pPr marL="457200" indent="-457200">
              <a:buFont typeface="+mj-lt"/>
              <a:buAutoNum type="arabicPeriod"/>
            </a:pPr>
            <a:endParaRPr lang="en-US" sz="1800" b="0" i="0" u="none" strike="noStrike" baseline="0" dirty="0">
              <a:solidFill>
                <a:srgbClr val="000000"/>
              </a:solidFill>
              <a:latin typeface="RHRHSI+TimesNewRomanPSM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CAF7EB-F8C9-4056-524D-3B87C52F048E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37466075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E30A8-96F7-CC90-6EA3-48A5BA830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6CD32-1F1B-A176-6B0F-CE3806FA9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552" y="1619148"/>
            <a:ext cx="10515600" cy="420638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1800" dirty="0"/>
              <a:t>S. Z. </a:t>
            </a:r>
            <a:r>
              <a:rPr lang="en-US" sz="1800" dirty="0" err="1"/>
              <a:t>Alavijeh</a:t>
            </a:r>
            <a:r>
              <a:rPr lang="en-US" sz="1800" dirty="0"/>
              <a:t>, X. Yang, Z. </a:t>
            </a:r>
            <a:r>
              <a:rPr lang="en-US" sz="1800" dirty="0" err="1"/>
              <a:t>Noorian</a:t>
            </a:r>
            <a:r>
              <a:rPr lang="en-US" sz="1800" dirty="0"/>
              <a:t>, A. </a:t>
            </a:r>
            <a:r>
              <a:rPr lang="en-US" sz="1800" dirty="0" err="1"/>
              <a:t>Ghenai</a:t>
            </a:r>
            <a:r>
              <a:rPr lang="en-US" sz="1800" dirty="0"/>
              <a:t>, and F. </a:t>
            </a:r>
            <a:r>
              <a:rPr lang="en-US" sz="1800" dirty="0" err="1"/>
              <a:t>Zarrinkalam</a:t>
            </a:r>
            <a:r>
              <a:rPr lang="en-US" sz="1800" dirty="0"/>
              <a:t>, “Twitter-</a:t>
            </a:r>
            <a:r>
              <a:rPr lang="en-US" sz="1800" dirty="0" err="1"/>
              <a:t>MusicPD</a:t>
            </a:r>
            <a:r>
              <a:rPr lang="en-US" sz="1800" dirty="0"/>
              <a:t>: melody of minds - navigating user-level data on multiple mental health disorders and music preferences,” EPJ Data Science, vol. 14, no. 1, Apr. 2025, doi:10.1140/</a:t>
            </a:r>
            <a:r>
              <a:rPr lang="en-US" sz="1800" dirty="0" err="1"/>
              <a:t>epjds</a:t>
            </a:r>
            <a:r>
              <a:rPr lang="en-US" sz="1800" dirty="0"/>
              <a:t>/s13688-025-00549-7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sz="1800" dirty="0"/>
              <a:t>S. S. Gujar and A. Y. Reha, “Exploring relationship between music and mood through machine learning technique,”, in Proc. 2024 ACM Conf. on Multimedia (MM ’24), </a:t>
            </a:r>
            <a:r>
              <a:rPr lang="nn-NO" sz="1800" dirty="0"/>
              <a:t>New York, NY, USA, 2024, pp. 1–5. doi: 10.1145/3647444.3647916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sz="1800" dirty="0"/>
              <a:t>E. Wang, H. Lee, K. Do, M. Lee, and S. Chung, “Recommendation of music based onDASS-21 (Depression, Anxiety, Stress Scales) using fuzzy clustering,”, </a:t>
            </a:r>
            <a:r>
              <a:rPr lang="en-US" sz="1800" dirty="0" err="1"/>
              <a:t>Electronics,vol</a:t>
            </a:r>
            <a:r>
              <a:rPr lang="en-US" sz="1800" dirty="0"/>
              <a:t>. 12, no. 1, p. 168, Dec. 2022, </a:t>
            </a:r>
            <a:r>
              <a:rPr lang="en-US" sz="1800" dirty="0" err="1"/>
              <a:t>doi</a:t>
            </a:r>
            <a:r>
              <a:rPr lang="en-US" sz="1800" dirty="0"/>
              <a:t>: 10.3390/electronics12010168.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sz="1800" dirty="0"/>
              <a:t>N. V. Chawla, K. W. Bowyer, L. O. Hall, and W. P. </a:t>
            </a:r>
            <a:r>
              <a:rPr lang="en-US" sz="1800" dirty="0" err="1"/>
              <a:t>Kegelmeyer</a:t>
            </a:r>
            <a:r>
              <a:rPr lang="en-US" sz="1800" dirty="0"/>
              <a:t>, “SMOTE: </a:t>
            </a:r>
            <a:r>
              <a:rPr lang="en-US" sz="1800" dirty="0" err="1"/>
              <a:t>SyntheticMinority</a:t>
            </a:r>
            <a:r>
              <a:rPr lang="en-US" sz="1800" dirty="0"/>
              <a:t> Over-sampling technique,” , Journal of Artificial Intelligence Research, vol.16, pp. 321–357, Jun. 2002, </a:t>
            </a:r>
            <a:r>
              <a:rPr lang="en-US" sz="1800" dirty="0" err="1"/>
              <a:t>doi</a:t>
            </a:r>
            <a:r>
              <a:rPr lang="en-US" sz="1800" dirty="0"/>
              <a:t>: 10.1613/jair.953.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8CC08-DEC5-EB4C-263E-072DC4F6E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0EA7A9-554B-D88C-B4C4-835FD36167FC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40619912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89965-B9AC-1929-9FD1-1BE35813F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7F5EE-9260-6D34-ECB2-9297FA4BF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9"/>
            </a:pPr>
            <a:r>
              <a:rPr lang="en-US" sz="2000" dirty="0"/>
              <a:t>C. </a:t>
            </a:r>
            <a:r>
              <a:rPr lang="en-US" sz="2000" dirty="0" err="1"/>
              <a:t>Rasgaitis</a:t>
            </a:r>
            <a:r>
              <a:rPr lang="en-US" sz="2000" dirty="0"/>
              <a:t>, “Music &amp; Mental Health Survey results,” Kaggle, Nov. 21, 2022. </a:t>
            </a:r>
            <a:r>
              <a:rPr lang="fr-FR" sz="2000" dirty="0"/>
              <a:t>[Online]. </a:t>
            </a:r>
            <a:r>
              <a:rPr lang="fr-FR" sz="2000" dirty="0" err="1"/>
              <a:t>Available:</a:t>
            </a:r>
            <a:r>
              <a:rPr lang="fr-FR" sz="2000" dirty="0" err="1">
                <a:hlinkClick r:id="rId2"/>
              </a:rPr>
              <a:t>https</a:t>
            </a:r>
            <a:r>
              <a:rPr lang="fr-FR" sz="2000" dirty="0">
                <a:hlinkClick r:id="rId2"/>
              </a:rPr>
              <a:t>://www.kaggle.com/datasets/catherinerasgaitis/mxmhsurvey-</a:t>
            </a:r>
            <a:r>
              <a:rPr lang="en-US" sz="2000" dirty="0">
                <a:hlinkClick r:id="rId2"/>
              </a:rPr>
              <a:t>results</a:t>
            </a:r>
            <a:endParaRPr lang="en-US" sz="2000" dirty="0"/>
          </a:p>
          <a:p>
            <a:pPr marL="457200" indent="-457200">
              <a:buFont typeface="+mj-lt"/>
              <a:buAutoNum type="arabicPeriod" startAt="9"/>
            </a:pPr>
            <a:r>
              <a:rPr lang="en-US" sz="2000" dirty="0"/>
              <a:t>D. Marris, “Global Mental Health Statistics 2025: WHO uncovers crisis - Leal Mind,” Leal Mind, Jun. 18, 2025. https://lealmind.com/global-mental-health-statistics-2025/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F0929-1B24-F7DB-F57D-83C5C1B65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F1BB14-11DE-ABB1-1C36-F515396D82A3}"/>
              </a:ext>
            </a:extLst>
          </p:cNvPr>
          <p:cNvSpPr txBox="1"/>
          <p:nvPr/>
        </p:nvSpPr>
        <p:spPr>
          <a:xfrm>
            <a:off x="5258432" y="625241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Leveraging Genre-Based Music Preferences to Assist Psychologists in Tailoring Mental Health </a:t>
            </a:r>
            <a:br>
              <a:rPr lang="en-US" sz="1200" dirty="0"/>
            </a:br>
            <a:r>
              <a:rPr lang="en-US" sz="1200" dirty="0"/>
              <a:t>Treatments : A 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3351301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Custom 20">
      <a:dk1>
        <a:srgbClr val="000000"/>
      </a:dk1>
      <a:lt1>
        <a:sysClr val="window" lastClr="FFFFFF"/>
      </a:lt1>
      <a:dk2>
        <a:srgbClr val="2C3948"/>
      </a:dk2>
      <a:lt2>
        <a:srgbClr val="F4F4F4"/>
      </a:lt2>
      <a:accent1>
        <a:srgbClr val="F49D90"/>
      </a:accent1>
      <a:accent2>
        <a:srgbClr val="D6947C"/>
      </a:accent2>
      <a:accent3>
        <a:srgbClr val="BF8484"/>
      </a:accent3>
      <a:accent4>
        <a:srgbClr val="96A9AA"/>
      </a:accent4>
      <a:accent5>
        <a:srgbClr val="DD796C"/>
      </a:accent5>
      <a:accent6>
        <a:srgbClr val="D09145"/>
      </a:accent6>
      <a:hlink>
        <a:srgbClr val="DF686A"/>
      </a:hlink>
      <a:folHlink>
        <a:srgbClr val="F93F1C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29436BC-77AE-4AEE-A282-4E162A1CA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B665E41-66EB-401D-940D-8E7024721B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B37DAF-AFAF-4561-A80B-C76198EBD31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{F040F9B3-94F0-4700-83AA-56D15771E92F}tf67338807_win32</Template>
  <TotalTime>3014</TotalTime>
  <Words>2397</Words>
  <Application>Microsoft Office PowerPoint</Application>
  <PresentationFormat>Widescreen</PresentationFormat>
  <Paragraphs>254</Paragraphs>
  <Slides>29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Dante</vt:lpstr>
      <vt:lpstr>Dante (Headings)2</vt:lpstr>
      <vt:lpstr>Helvetica Neue Medium</vt:lpstr>
      <vt:lpstr>RHRHSI+TimesNewRomanPSMT</vt:lpstr>
      <vt:lpstr>Wingdings 2</vt:lpstr>
      <vt:lpstr>OffsetVTI</vt:lpstr>
      <vt:lpstr>Leveraging Genre-Based Music Preferences to Assist Psychologists in Tailoring Mental Health  Treatments : A Machine Learning Approach</vt:lpstr>
      <vt:lpstr>Table of Contents</vt:lpstr>
      <vt:lpstr>INTRODUCTION</vt:lpstr>
      <vt:lpstr>Motivation</vt:lpstr>
      <vt:lpstr>Related Works</vt:lpstr>
      <vt:lpstr>Related Works</vt:lpstr>
      <vt:lpstr>Related Works</vt:lpstr>
      <vt:lpstr>Research Questions</vt:lpstr>
      <vt:lpstr>Research Objectives</vt:lpstr>
      <vt:lpstr>  Methodology</vt:lpstr>
      <vt:lpstr>Dataset Description</vt:lpstr>
      <vt:lpstr>Dataset Demonstration</vt:lpstr>
      <vt:lpstr>PowerPoint Presentation</vt:lpstr>
      <vt:lpstr>Data Preprocessing</vt:lpstr>
      <vt:lpstr>Exploratory Data Analysis</vt:lpstr>
      <vt:lpstr>Musical Effect Distribution </vt:lpstr>
      <vt:lpstr>Mental Health Trends by Favorite Genre</vt:lpstr>
      <vt:lpstr>Insights</vt:lpstr>
      <vt:lpstr>Genre-wise Impact on Perceived Music Effect</vt:lpstr>
      <vt:lpstr>Data Reframing</vt:lpstr>
      <vt:lpstr>PowerPoint Presentation</vt:lpstr>
      <vt:lpstr>Class Imbalance Handling </vt:lpstr>
      <vt:lpstr>Model Training</vt:lpstr>
      <vt:lpstr>Result &amp; Discussion</vt:lpstr>
      <vt:lpstr>Result &amp; Discussion</vt:lpstr>
      <vt:lpstr>Conclusion &amp; Future Work </vt:lpstr>
      <vt:lpstr>References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 Rahman</dc:creator>
  <cp:lastModifiedBy>rafi3215987@gmail.com</cp:lastModifiedBy>
  <cp:revision>15</cp:revision>
  <dcterms:created xsi:type="dcterms:W3CDTF">2025-05-17T07:48:19Z</dcterms:created>
  <dcterms:modified xsi:type="dcterms:W3CDTF">2025-07-15T03:14:34Z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